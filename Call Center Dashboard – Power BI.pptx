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Economica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  <p:embeddedFont>
      <p:font typeface="Lexend"/>
      <p:regular r:id="rId27"/>
      <p:bold r:id="rId28"/>
    </p:embeddedFont>
    <p:embeddedFont>
      <p:font typeface="Open Sans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Economica-bold.fntdata"/><Relationship Id="rId22" Type="http://schemas.openxmlformats.org/officeDocument/2006/relationships/font" Target="fonts/Economica-boldItalic.fntdata"/><Relationship Id="rId21" Type="http://schemas.openxmlformats.org/officeDocument/2006/relationships/font" Target="fonts/Economica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28" Type="http://schemas.openxmlformats.org/officeDocument/2006/relationships/font" Target="fonts/Lexend-bold.fntdata"/><Relationship Id="rId27" Type="http://schemas.openxmlformats.org/officeDocument/2006/relationships/font" Target="fonts/Lexen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penSan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OpenSans-italic.fntdata"/><Relationship Id="rId30" Type="http://schemas.openxmlformats.org/officeDocument/2006/relationships/font" Target="fonts/OpenSans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OpenSans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Economica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7b8cec04ba_0_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7b8cec04ba_0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7b953f575e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7b953f575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7b953f575e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7b953f575e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7b953f575e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7b953f575e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7b953f575e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7b953f575e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7b953f575e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7b953f575e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7b953f575e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7b953f575e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7b953f575e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7b953f575e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7b953f575e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7b953f575e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7b953f575e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7b953f575e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7b953f575e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7b953f575e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7b953f575e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7b953f575e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en.wikipedia.org/wiki/Kaggle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FC5E8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Call Centre Dashboard – Power BI Project Presentation</a:t>
            </a:r>
            <a:endParaRPr b="1" sz="3000"/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4204800" y="3062200"/>
            <a:ext cx="1894500" cy="11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Submitted By 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              </a:t>
            </a:r>
            <a:r>
              <a:rPr b="1" lang="en" sz="1800"/>
              <a:t>SAGAR SS</a:t>
            </a:r>
            <a:endParaRPr b="1" sz="1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            </a:t>
            </a:r>
            <a:r>
              <a:rPr lang="en" sz="1800"/>
              <a:t>Data Analytics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              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" name="Google Shape;64;p13"/>
          <p:cNvCxnSpPr/>
          <p:nvPr/>
        </p:nvCxnSpPr>
        <p:spPr>
          <a:xfrm flipH="1">
            <a:off x="-7925" y="3975"/>
            <a:ext cx="9900" cy="5084100"/>
          </a:xfrm>
          <a:prstGeom prst="straightConnector1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" name="Google Shape;65;p13"/>
          <p:cNvCxnSpPr/>
          <p:nvPr/>
        </p:nvCxnSpPr>
        <p:spPr>
          <a:xfrm>
            <a:off x="1975" y="5137550"/>
            <a:ext cx="9147300" cy="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" name="Google Shape;66;p13"/>
          <p:cNvCxnSpPr/>
          <p:nvPr/>
        </p:nvCxnSpPr>
        <p:spPr>
          <a:xfrm>
            <a:off x="9149275" y="3975"/>
            <a:ext cx="9900" cy="514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" name="Google Shape;67;p13"/>
          <p:cNvCxnSpPr/>
          <p:nvPr/>
        </p:nvCxnSpPr>
        <p:spPr>
          <a:xfrm>
            <a:off x="111000" y="83250"/>
            <a:ext cx="0" cy="498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" name="Google Shape;68;p13"/>
          <p:cNvCxnSpPr/>
          <p:nvPr/>
        </p:nvCxnSpPr>
        <p:spPr>
          <a:xfrm>
            <a:off x="130825" y="83250"/>
            <a:ext cx="8959200" cy="19800"/>
          </a:xfrm>
          <a:prstGeom prst="straightConnector1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" name="Google Shape;69;p13"/>
          <p:cNvCxnSpPr/>
          <p:nvPr/>
        </p:nvCxnSpPr>
        <p:spPr>
          <a:xfrm>
            <a:off x="9060100" y="73325"/>
            <a:ext cx="9900" cy="4965000"/>
          </a:xfrm>
          <a:prstGeom prst="straightConnector1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" name="Google Shape;70;p13"/>
          <p:cNvCxnSpPr/>
          <p:nvPr/>
        </p:nvCxnSpPr>
        <p:spPr>
          <a:xfrm>
            <a:off x="81275" y="5058275"/>
            <a:ext cx="8998800" cy="9900"/>
          </a:xfrm>
          <a:prstGeom prst="straightConnector1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" name="Google Shape;71;p13"/>
          <p:cNvCxnSpPr/>
          <p:nvPr/>
        </p:nvCxnSpPr>
        <p:spPr>
          <a:xfrm>
            <a:off x="13050" y="-6525"/>
            <a:ext cx="9145200" cy="10800"/>
          </a:xfrm>
          <a:prstGeom prst="straightConnector1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" name="Google Shape;72;p13"/>
          <p:cNvCxnSpPr/>
          <p:nvPr/>
        </p:nvCxnSpPr>
        <p:spPr>
          <a:xfrm>
            <a:off x="9142550" y="-6525"/>
            <a:ext cx="15600" cy="5132700"/>
          </a:xfrm>
          <a:prstGeom prst="straightConnector1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" name="Google Shape;73;p13"/>
          <p:cNvCxnSpPr/>
          <p:nvPr/>
        </p:nvCxnSpPr>
        <p:spPr>
          <a:xfrm>
            <a:off x="-8700" y="5126100"/>
            <a:ext cx="9177900" cy="10800"/>
          </a:xfrm>
          <a:prstGeom prst="straightConnector1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Happy businessman and call center operator on screen of smart phone. Online customer service concept (Provided by Getty Images)" id="74" name="Google Shape;74;p13"/>
          <p:cNvPicPr preferRelativeResize="0"/>
          <p:nvPr/>
        </p:nvPicPr>
        <p:blipFill rotWithShape="1">
          <a:blip r:embed="rId3">
            <a:alphaModFix/>
          </a:blip>
          <a:srcRect b="16675" l="0" r="0" t="16675"/>
          <a:stretch/>
        </p:blipFill>
        <p:spPr>
          <a:xfrm>
            <a:off x="4294380" y="658451"/>
            <a:ext cx="1253652" cy="835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D9D9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Call Centre Dashboard using Power BI</a:t>
            </a:r>
            <a:endParaRPr/>
          </a:p>
        </p:txBody>
      </p:sp>
      <p:sp>
        <p:nvSpPr>
          <p:cNvPr id="80" name="Google Shape;80;p14"/>
          <p:cNvSpPr txBox="1"/>
          <p:nvPr/>
        </p:nvSpPr>
        <p:spPr>
          <a:xfrm>
            <a:off x="87000" y="1552363"/>
            <a:ext cx="9057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Objective:</a:t>
            </a:r>
            <a:r>
              <a:rPr lang="en" sz="1800">
                <a:solidFill>
                  <a:schemeClr val="dk1"/>
                </a:solidFill>
              </a:rPr>
              <a:t>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      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                    To analyze call centre operations and provide insights into performance, customer experience, and efficiency for </a:t>
            </a:r>
            <a:r>
              <a:rPr b="1" lang="en" sz="1800">
                <a:solidFill>
                  <a:schemeClr val="dk1"/>
                </a:solidFill>
              </a:rPr>
              <a:t>October 2020</a:t>
            </a:r>
            <a:r>
              <a:rPr lang="en" sz="1800">
                <a:solidFill>
                  <a:schemeClr val="dk1"/>
                </a:solidFill>
              </a:rPr>
              <a:t>.</a:t>
            </a:r>
            <a:endParaRPr sz="1800"/>
          </a:p>
        </p:txBody>
      </p:sp>
      <p:pic>
        <p:nvPicPr>
          <p:cNvPr descr="2020 Calendar October Part 2 (Provided by Getty Images)" id="81" name="Google Shape;8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05925" y="3043875"/>
            <a:ext cx="2185687" cy="168622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2" name="Google Shape;82;p14"/>
          <p:cNvCxnSpPr/>
          <p:nvPr/>
        </p:nvCxnSpPr>
        <p:spPr>
          <a:xfrm flipH="1">
            <a:off x="-8625" y="15225"/>
            <a:ext cx="10800" cy="5078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" name="Google Shape;83;p14"/>
          <p:cNvCxnSpPr/>
          <p:nvPr/>
        </p:nvCxnSpPr>
        <p:spPr>
          <a:xfrm>
            <a:off x="-8700" y="-8700"/>
            <a:ext cx="9145500" cy="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" name="Google Shape;84;p14"/>
          <p:cNvCxnSpPr/>
          <p:nvPr/>
        </p:nvCxnSpPr>
        <p:spPr>
          <a:xfrm>
            <a:off x="9136500" y="15225"/>
            <a:ext cx="0" cy="5056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D9D9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/>
          <p:nvPr>
            <p:ph type="title"/>
          </p:nvPr>
        </p:nvSpPr>
        <p:spPr>
          <a:xfrm>
            <a:off x="3288750" y="167475"/>
            <a:ext cx="2566500" cy="56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Lexend"/>
                <a:ea typeface="Lexend"/>
                <a:cs typeface="Lexend"/>
                <a:sym typeface="Lexend"/>
              </a:rPr>
              <a:t>Introduction</a:t>
            </a:r>
            <a:endParaRPr b="1" sz="3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" name="Google Shape;90;p15"/>
          <p:cNvSpPr txBox="1"/>
          <p:nvPr>
            <p:ph idx="1" type="body"/>
          </p:nvPr>
        </p:nvSpPr>
        <p:spPr>
          <a:xfrm>
            <a:off x="311700" y="896025"/>
            <a:ext cx="8520600" cy="39255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This Power BI project analyzes </a:t>
            </a:r>
            <a:r>
              <a:rPr b="1" lang="en" sz="1400">
                <a:latin typeface="Arial"/>
                <a:ea typeface="Arial"/>
                <a:cs typeface="Arial"/>
                <a:sym typeface="Arial"/>
              </a:rPr>
              <a:t>Call Centre operations for October 2020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, focusing on the following performance categories: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Total Calls Received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Calls Resolved vs. Unresolved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Customer Satisfaction Scores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Average Call Duration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Agent and Call-Centre Performance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Call Topics (Billing, Payment, Service, etc.)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Call Channels (Call-Centre, Chatbot, Email, Web)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Customer Sentiment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The analysis includes insights across </a:t>
            </a:r>
            <a:r>
              <a:rPr b="1" lang="en" sz="1400">
                <a:latin typeface="Arial"/>
                <a:ea typeface="Arial"/>
                <a:cs typeface="Arial"/>
                <a:sym typeface="Arial"/>
              </a:rPr>
              <a:t>agents, call types, call centres, and time periods within October 2020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, and uses various visualizations to explore </a:t>
            </a:r>
            <a:r>
              <a:rPr b="1" lang="en" sz="1400">
                <a:latin typeface="Arial"/>
                <a:ea typeface="Arial"/>
                <a:cs typeface="Arial"/>
                <a:sym typeface="Arial"/>
              </a:rPr>
              <a:t>operational efficiency, customer experience, and productivity patterns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D9D9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6"/>
          <p:cNvSpPr txBox="1"/>
          <p:nvPr>
            <p:ph type="title"/>
          </p:nvPr>
        </p:nvSpPr>
        <p:spPr>
          <a:xfrm>
            <a:off x="2821200" y="97875"/>
            <a:ext cx="3501600" cy="44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b="1" lang="en" sz="2400">
                <a:latin typeface="Lexend"/>
                <a:ea typeface="Lexend"/>
                <a:cs typeface="Lexend"/>
                <a:sym typeface="Lexend"/>
              </a:rPr>
              <a:t>Dataset Description</a:t>
            </a:r>
            <a:endParaRPr b="1" sz="24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6"/>
          <p:cNvSpPr txBox="1"/>
          <p:nvPr>
            <p:ph idx="1" type="body"/>
          </p:nvPr>
        </p:nvSpPr>
        <p:spPr>
          <a:xfrm>
            <a:off x="311700" y="624175"/>
            <a:ext cx="8520600" cy="39549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Dataset Period: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October 2020</a:t>
            </a:r>
            <a:br>
              <a:rPr lang="en" sz="1400">
                <a:latin typeface="Arial"/>
                <a:ea typeface="Arial"/>
                <a:cs typeface="Arial"/>
                <a:sym typeface="Arial"/>
              </a:rPr>
            </a:br>
            <a:r>
              <a:rPr b="1" lang="en" sz="1400">
                <a:latin typeface="Arial"/>
                <a:ea typeface="Arial"/>
                <a:cs typeface="Arial"/>
                <a:sym typeface="Arial"/>
              </a:rPr>
              <a:t>Dataset Source: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14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[From Kaggle]</a:t>
            </a:r>
            <a:br>
              <a:rPr b="1" lang="en" sz="1400">
                <a:latin typeface="Arial"/>
                <a:ea typeface="Arial"/>
                <a:cs typeface="Arial"/>
                <a:sym typeface="Arial"/>
              </a:rPr>
            </a:br>
            <a:r>
              <a:rPr b="1" lang="en" sz="1400">
                <a:latin typeface="Arial"/>
                <a:ea typeface="Arial"/>
                <a:cs typeface="Arial"/>
                <a:sym typeface="Arial"/>
              </a:rPr>
              <a:t>Dataset Size: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Contains records of call centre operations (calls, agents, customer feedback) for one month.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Key Columns &amp; Fields: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Call-Centres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– Locations of call centres.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City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– Customer city.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State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– Customer state.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Channel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– Communication channel (Call-Centre, Chatbot, Email, Web).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Reason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– Call type (Billing, Payment, Service, etc.).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Sentiment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– Customer sentiment (Positive, Negative, Neutral, etc.).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Response Time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– Time taken to respond.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Csat Score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– Customer satisfaction rating.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Date Table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– Date, Day, Day No.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CCCCC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type="title"/>
          </p:nvPr>
        </p:nvSpPr>
        <p:spPr>
          <a:xfrm>
            <a:off x="2704025" y="58725"/>
            <a:ext cx="2550300" cy="60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Lexend"/>
                <a:ea typeface="Lexend"/>
                <a:cs typeface="Lexend"/>
                <a:sym typeface="Lexend"/>
              </a:rPr>
              <a:t>Data Model</a:t>
            </a:r>
            <a:endParaRPr b="1" sz="3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" name="Google Shape;102;p17"/>
          <p:cNvSpPr txBox="1"/>
          <p:nvPr>
            <p:ph idx="1" type="body"/>
          </p:nvPr>
        </p:nvSpPr>
        <p:spPr>
          <a:xfrm>
            <a:off x="311700" y="667725"/>
            <a:ext cx="8520600" cy="22944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The data model consists of: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Arial"/>
              <a:buChar char="❏"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Fact Table: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 Call records (calls, duration, sentiment, resolution, etc.)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❏"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Dimension Tables: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 Date Table (Date, Day, Day No.)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Relationships link call records with date and other attributes.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D9D9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 txBox="1"/>
          <p:nvPr>
            <p:ph type="title"/>
          </p:nvPr>
        </p:nvSpPr>
        <p:spPr>
          <a:xfrm>
            <a:off x="1540500" y="47850"/>
            <a:ext cx="5595300" cy="511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Lexend"/>
                <a:ea typeface="Lexend"/>
                <a:cs typeface="Lexend"/>
                <a:sym typeface="Lexend"/>
              </a:rPr>
              <a:t>Measures &amp; Calculations (DAX)</a:t>
            </a:r>
            <a:endParaRPr b="1" sz="3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8"/>
          <p:cNvSpPr txBox="1"/>
          <p:nvPr>
            <p:ph idx="1" type="body"/>
          </p:nvPr>
        </p:nvSpPr>
        <p:spPr>
          <a:xfrm>
            <a:off x="311700" y="656800"/>
            <a:ext cx="8520600" cy="39225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The following measures were created in Power BI for this dashboard: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Arial"/>
              <a:buChar char="❖"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Total Calls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❖"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Total Call Duration in Minutes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❖"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Call Duration in Hours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❖"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Average Call Duration (Min)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❖"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Response Time %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These measures power the KPIs and visualizations in the dashboard.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D9D9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 txBox="1"/>
          <p:nvPr>
            <p:ph type="title"/>
          </p:nvPr>
        </p:nvSpPr>
        <p:spPr>
          <a:xfrm>
            <a:off x="1051125" y="69600"/>
            <a:ext cx="6356400" cy="50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50">
                <a:latin typeface="Lexend"/>
                <a:ea typeface="Lexend"/>
                <a:cs typeface="Lexend"/>
                <a:sym typeface="Lexend"/>
              </a:rPr>
              <a:t>Dashboard Walkthrough - HOME PAGE</a:t>
            </a:r>
            <a:r>
              <a:rPr b="1" lang="en" sz="3000">
                <a:latin typeface="Lexend"/>
                <a:ea typeface="Lexend"/>
                <a:cs typeface="Lexend"/>
                <a:sym typeface="Lexend"/>
              </a:rPr>
              <a:t> </a:t>
            </a:r>
            <a:endParaRPr b="1" sz="3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" name="Google Shape;114;p19"/>
          <p:cNvSpPr txBox="1"/>
          <p:nvPr>
            <p:ph idx="1" type="body"/>
          </p:nvPr>
        </p:nvSpPr>
        <p:spPr>
          <a:xfrm>
            <a:off x="311700" y="624175"/>
            <a:ext cx="8520600" cy="39549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The dashboard consists of multiple visualizations: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CC4125"/>
              </a:buClr>
              <a:buSzPts val="1800"/>
              <a:buFont typeface="Arial"/>
              <a:buChar char="●"/>
            </a:pPr>
            <a:r>
              <a:rPr b="1" lang="en">
                <a:solidFill>
                  <a:srgbClr val="CC4125"/>
                </a:solidFill>
                <a:latin typeface="Arial"/>
                <a:ea typeface="Arial"/>
                <a:cs typeface="Arial"/>
                <a:sym typeface="Arial"/>
              </a:rPr>
              <a:t>KPI Cards:</a:t>
            </a:r>
            <a:endParaRPr b="1">
              <a:solidFill>
                <a:srgbClr val="CC412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○"/>
            </a:pPr>
            <a:r>
              <a:rPr lang="en" sz="1800">
                <a:latin typeface="Lato"/>
                <a:ea typeface="Lato"/>
                <a:cs typeface="Lato"/>
                <a:sym typeface="Lato"/>
              </a:rPr>
              <a:t>Calls </a:t>
            </a:r>
            <a:r>
              <a:rPr b="1" lang="en" sz="1800">
                <a:highlight>
                  <a:schemeClr val="lt2"/>
                </a:highlight>
                <a:latin typeface="Lato"/>
                <a:ea typeface="Lato"/>
                <a:cs typeface="Lato"/>
                <a:sym typeface="Lato"/>
              </a:rPr>
              <a:t>(Total Calls)</a:t>
            </a:r>
            <a:endParaRPr b="1" sz="1800">
              <a:highlight>
                <a:schemeClr val="lt2"/>
              </a:highlight>
              <a:latin typeface="Lato"/>
              <a:ea typeface="Lato"/>
              <a:cs typeface="Lato"/>
              <a:sym typeface="Lat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○"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Call Duration</a:t>
            </a:r>
            <a:r>
              <a:rPr b="1" lang="en" sz="1800">
                <a:highlight>
                  <a:schemeClr val="lt2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1800">
                <a:highlight>
                  <a:schemeClr val="lt2"/>
                </a:highlight>
              </a:rPr>
              <a:t>(Hrs)</a:t>
            </a:r>
            <a:endParaRPr b="1" sz="1800">
              <a:highlight>
                <a:schemeClr val="lt2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○"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Call Duration</a:t>
            </a:r>
            <a:r>
              <a:rPr lang="en" sz="1800">
                <a:highlight>
                  <a:schemeClr val="lt2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1800">
                <a:highlight>
                  <a:schemeClr val="lt2"/>
                </a:highlight>
                <a:latin typeface="Arial"/>
                <a:ea typeface="Arial"/>
                <a:cs typeface="Arial"/>
                <a:sym typeface="Arial"/>
              </a:rPr>
              <a:t>(Min)</a:t>
            </a:r>
            <a:endParaRPr b="1" sz="1800">
              <a:highlight>
                <a:schemeClr val="lt2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○"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Avg Call Duration </a:t>
            </a:r>
            <a:r>
              <a:rPr b="1" lang="en" sz="1800">
                <a:highlight>
                  <a:schemeClr val="lt2"/>
                </a:highlight>
                <a:latin typeface="Arial"/>
                <a:ea typeface="Arial"/>
                <a:cs typeface="Arial"/>
                <a:sym typeface="Arial"/>
              </a:rPr>
              <a:t>(Min)</a:t>
            </a:r>
            <a:endParaRPr b="1" sz="1800">
              <a:highlight>
                <a:schemeClr val="lt2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○"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Response Time</a:t>
            </a:r>
            <a:r>
              <a:rPr b="1" lang="en" sz="1800">
                <a:highlight>
                  <a:schemeClr val="lt2"/>
                </a:highlight>
                <a:latin typeface="Arial"/>
                <a:ea typeface="Arial"/>
                <a:cs typeface="Arial"/>
                <a:sym typeface="Arial"/>
              </a:rPr>
              <a:t> %</a:t>
            </a:r>
            <a:endParaRPr b="1" sz="1800">
              <a:highlight>
                <a:schemeClr val="lt2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D9D9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0"/>
          <p:cNvSpPr txBox="1"/>
          <p:nvPr/>
        </p:nvSpPr>
        <p:spPr>
          <a:xfrm>
            <a:off x="276750" y="750325"/>
            <a:ext cx="8590500" cy="2846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 sz="1800">
                <a:solidFill>
                  <a:schemeClr val="dk1"/>
                </a:solidFill>
              </a:rPr>
              <a:t>Bar Chart:</a:t>
            </a:r>
            <a:r>
              <a:rPr lang="en" sz="1800">
                <a:solidFill>
                  <a:schemeClr val="dk1"/>
                </a:solidFill>
              </a:rPr>
              <a:t> Calls by Day (Sun–Sat).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 sz="1800">
                <a:solidFill>
                  <a:schemeClr val="dk1"/>
                </a:solidFill>
              </a:rPr>
              <a:t>Map Chart:</a:t>
            </a:r>
            <a:r>
              <a:rPr lang="en" sz="1800">
                <a:solidFill>
                  <a:schemeClr val="dk1"/>
                </a:solidFill>
              </a:rPr>
              <a:t> Calls by State.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 sz="1800">
                <a:solidFill>
                  <a:schemeClr val="dk1"/>
                </a:solidFill>
              </a:rPr>
              <a:t>Treemap:</a:t>
            </a:r>
            <a:r>
              <a:rPr lang="en" sz="1800">
                <a:solidFill>
                  <a:schemeClr val="dk1"/>
                </a:solidFill>
              </a:rPr>
              <a:t> Calls by Reason (Billing, Payment, Service).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 sz="1800">
                <a:solidFill>
                  <a:schemeClr val="dk1"/>
                </a:solidFill>
              </a:rPr>
              <a:t>Donut Chart:</a:t>
            </a:r>
            <a:r>
              <a:rPr lang="en" sz="1800">
                <a:solidFill>
                  <a:schemeClr val="dk1"/>
                </a:solidFill>
              </a:rPr>
              <a:t> Calls by Channel (Call-Centre, Chatbot, Email, Web).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 sz="1800">
                <a:solidFill>
                  <a:schemeClr val="dk1"/>
                </a:solidFill>
              </a:rPr>
              <a:t>Bar Chart:</a:t>
            </a:r>
            <a:r>
              <a:rPr lang="en" sz="1800">
                <a:solidFill>
                  <a:schemeClr val="dk1"/>
                </a:solidFill>
              </a:rPr>
              <a:t> Calls by Sentiment (Negative, Neutral, Positive, Very Negative, Very Positive).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 sz="1800">
                <a:solidFill>
                  <a:schemeClr val="dk1"/>
                </a:solidFill>
              </a:rPr>
              <a:t>Bar Chart:</a:t>
            </a:r>
            <a:r>
              <a:rPr lang="en" sz="1800">
                <a:solidFill>
                  <a:schemeClr val="dk1"/>
                </a:solidFill>
              </a:rPr>
              <a:t> Calls by Call-Centres (Los Angeles, Baltimore, Chicago, Denver).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0" name="Google Shape;120;p20"/>
          <p:cNvSpPr/>
          <p:nvPr/>
        </p:nvSpPr>
        <p:spPr>
          <a:xfrm>
            <a:off x="513250" y="3745075"/>
            <a:ext cx="8003400" cy="772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“In addition to visualizations, the dashboard includes </a:t>
            </a:r>
            <a:r>
              <a:rPr b="1" lang="en" sz="1200">
                <a:solidFill>
                  <a:schemeClr val="dk1"/>
                </a:solidFill>
              </a:rPr>
              <a:t>navigation buttons (Home &amp; Grid)</a:t>
            </a:r>
            <a:r>
              <a:rPr lang="en" sz="1200">
                <a:solidFill>
                  <a:schemeClr val="dk1"/>
                </a:solidFill>
              </a:rPr>
              <a:t> that allow users to switch between views seamlessly. This improves user experience and makes the report more interactive.”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1" name="Google Shape;121;p20"/>
          <p:cNvSpPr txBox="1"/>
          <p:nvPr/>
        </p:nvSpPr>
        <p:spPr>
          <a:xfrm>
            <a:off x="276750" y="297975"/>
            <a:ext cx="3871200" cy="3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CC4125"/>
                </a:solidFill>
                <a:latin typeface="Lexend"/>
                <a:ea typeface="Lexend"/>
                <a:cs typeface="Lexend"/>
                <a:sym typeface="Lexend"/>
              </a:rPr>
              <a:t>CHARTS :</a:t>
            </a:r>
            <a:endParaRPr b="1" sz="1800">
              <a:solidFill>
                <a:srgbClr val="CC412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D9D9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1"/>
          <p:cNvSpPr txBox="1"/>
          <p:nvPr>
            <p:ph type="title"/>
          </p:nvPr>
        </p:nvSpPr>
        <p:spPr>
          <a:xfrm>
            <a:off x="2018950" y="0"/>
            <a:ext cx="4855800" cy="43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Lexend"/>
                <a:ea typeface="Lexend"/>
                <a:cs typeface="Lexend"/>
                <a:sym typeface="Lexend"/>
              </a:rPr>
              <a:t>Dashboard Walkthrough – Grid Page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" name="Google Shape;127;p21"/>
          <p:cNvSpPr txBox="1"/>
          <p:nvPr>
            <p:ph idx="1" type="body"/>
          </p:nvPr>
        </p:nvSpPr>
        <p:spPr>
          <a:xfrm>
            <a:off x="311700" y="431700"/>
            <a:ext cx="8520600" cy="44148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highlight>
                  <a:srgbClr val="DD7E6B"/>
                </a:highlight>
                <a:latin typeface="Arial"/>
                <a:ea typeface="Arial"/>
                <a:cs typeface="Arial"/>
                <a:sym typeface="Arial"/>
              </a:rPr>
              <a:t>Purpose</a:t>
            </a:r>
            <a:endParaRPr b="1" sz="1000">
              <a:highlight>
                <a:srgbClr val="DD7E6B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1200"/>
              </a:spcBef>
              <a:spcAft>
                <a:spcPts val="0"/>
              </a:spcAft>
              <a:buSzPts val="1000"/>
              <a:buFont typeface="Arial"/>
              <a:buChar char="●"/>
            </a:pPr>
            <a:r>
              <a:rPr lang="en" sz="1000">
                <a:highlight>
                  <a:schemeClr val="lt2"/>
                </a:highlight>
                <a:latin typeface="Arial"/>
                <a:ea typeface="Arial"/>
                <a:cs typeface="Arial"/>
                <a:sym typeface="Arial"/>
              </a:rPr>
              <a:t>Shows detailed </a:t>
            </a:r>
            <a:r>
              <a:rPr b="1" lang="en" sz="1000">
                <a:highlight>
                  <a:schemeClr val="lt2"/>
                </a:highlight>
                <a:latin typeface="Arial"/>
                <a:ea typeface="Arial"/>
                <a:cs typeface="Arial"/>
                <a:sym typeface="Arial"/>
              </a:rPr>
              <a:t>call-level data</a:t>
            </a:r>
            <a:r>
              <a:rPr lang="en" sz="1000">
                <a:highlight>
                  <a:schemeClr val="lt2"/>
                </a:highlight>
                <a:latin typeface="Arial"/>
                <a:ea typeface="Arial"/>
                <a:cs typeface="Arial"/>
                <a:sym typeface="Arial"/>
              </a:rPr>
              <a:t> for deeper analysis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" sz="1000">
                <a:latin typeface="Arial"/>
                <a:ea typeface="Arial"/>
                <a:cs typeface="Arial"/>
                <a:sym typeface="Arial"/>
              </a:rPr>
            </a:b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●"/>
            </a:pPr>
            <a:r>
              <a:rPr lang="en" sz="1000">
                <a:highlight>
                  <a:schemeClr val="lt2"/>
                </a:highlight>
                <a:latin typeface="Arial"/>
                <a:ea typeface="Arial"/>
                <a:cs typeface="Arial"/>
                <a:sym typeface="Arial"/>
              </a:rPr>
              <a:t>Complements the summary view by enabling drill-down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" sz="1000">
                <a:latin typeface="Arial"/>
                <a:ea typeface="Arial"/>
                <a:cs typeface="Arial"/>
                <a:sym typeface="Arial"/>
              </a:rPr>
            </a:b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highlight>
                  <a:srgbClr val="DD7E6B"/>
                </a:highlight>
                <a:latin typeface="Arial"/>
                <a:ea typeface="Arial"/>
                <a:cs typeface="Arial"/>
                <a:sym typeface="Arial"/>
              </a:rPr>
              <a:t>Key Features</a:t>
            </a:r>
            <a:endParaRPr b="1" sz="1000">
              <a:highlight>
                <a:srgbClr val="DD7E6B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1200"/>
              </a:spcBef>
              <a:spcAft>
                <a:spcPts val="0"/>
              </a:spcAft>
              <a:buSzPts val="1000"/>
              <a:buFont typeface="Arial"/>
              <a:buChar char="●"/>
            </a:pPr>
            <a:r>
              <a:rPr b="1" lang="en" sz="1000">
                <a:latin typeface="Arial"/>
                <a:ea typeface="Arial"/>
                <a:cs typeface="Arial"/>
                <a:sym typeface="Arial"/>
              </a:rPr>
              <a:t>KPIs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: Calls, Call Duration (Hrs/Min), Avg Call Duration, Response Time %.</a:t>
            </a:r>
            <a:br>
              <a:rPr lang="en" sz="1000">
                <a:latin typeface="Arial"/>
                <a:ea typeface="Arial"/>
                <a:cs typeface="Arial"/>
                <a:sym typeface="Arial"/>
              </a:rPr>
            </a:b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●"/>
            </a:pPr>
            <a:r>
              <a:rPr b="1" lang="en" sz="1000">
                <a:latin typeface="Arial"/>
                <a:ea typeface="Arial"/>
                <a:cs typeface="Arial"/>
                <a:sym typeface="Arial"/>
              </a:rPr>
              <a:t>Filters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: Date Range, Channel, City.</a:t>
            </a:r>
            <a:br>
              <a:rPr lang="en" sz="1000">
                <a:latin typeface="Arial"/>
                <a:ea typeface="Arial"/>
                <a:cs typeface="Arial"/>
                <a:sym typeface="Arial"/>
              </a:rPr>
            </a:b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●"/>
            </a:pPr>
            <a:r>
              <a:rPr b="1" lang="en" sz="1000">
                <a:latin typeface="Arial"/>
                <a:ea typeface="Arial"/>
                <a:cs typeface="Arial"/>
                <a:sym typeface="Arial"/>
              </a:rPr>
              <a:t>Detailed Table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: Call ID, Customer, Channel, State, Reason, Response Time, City, Call Duration.</a:t>
            </a:r>
            <a:br>
              <a:rPr lang="en" sz="1000">
                <a:latin typeface="Arial"/>
                <a:ea typeface="Arial"/>
                <a:cs typeface="Arial"/>
                <a:sym typeface="Arial"/>
              </a:rPr>
            </a:b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●"/>
            </a:pPr>
            <a:r>
              <a:rPr b="1" lang="en" sz="1000">
                <a:latin typeface="Arial"/>
                <a:ea typeface="Arial"/>
                <a:cs typeface="Arial"/>
                <a:sym typeface="Arial"/>
              </a:rPr>
              <a:t>Navigation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: Switch easily between Home ↔ Grid.</a:t>
            </a:r>
            <a:br>
              <a:rPr lang="en" sz="1000">
                <a:latin typeface="Arial"/>
                <a:ea typeface="Arial"/>
                <a:cs typeface="Arial"/>
                <a:sym typeface="Arial"/>
              </a:rPr>
            </a:b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highlight>
                  <a:srgbClr val="DD7E6B"/>
                </a:highlight>
                <a:latin typeface="Arial"/>
                <a:ea typeface="Arial"/>
                <a:cs typeface="Arial"/>
                <a:sym typeface="Arial"/>
              </a:rPr>
              <a:t>Value</a:t>
            </a:r>
            <a:endParaRPr b="1" sz="1000">
              <a:highlight>
                <a:srgbClr val="DD7E6B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1200"/>
              </a:spcBef>
              <a:spcAft>
                <a:spcPts val="0"/>
              </a:spcAft>
              <a:buSzPts val="1000"/>
              <a:buFont typeface="Arial"/>
              <a:buChar char="●"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Enables managers to analyze individual calls.</a:t>
            </a:r>
            <a:br>
              <a:rPr lang="en" sz="1000">
                <a:latin typeface="Arial"/>
                <a:ea typeface="Arial"/>
                <a:cs typeface="Arial"/>
                <a:sym typeface="Arial"/>
              </a:rPr>
            </a:b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●"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Identifies patterns in response time &amp; call reasons.</a:t>
            </a:r>
            <a:br>
              <a:rPr lang="en" sz="1000">
                <a:latin typeface="Arial"/>
                <a:ea typeface="Arial"/>
                <a:cs typeface="Arial"/>
                <a:sym typeface="Arial"/>
              </a:rPr>
            </a:b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●"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Supports both high-level and granular decision-making.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D9D9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"/>
          <p:cNvSpPr txBox="1"/>
          <p:nvPr>
            <p:ph type="title"/>
          </p:nvPr>
        </p:nvSpPr>
        <p:spPr>
          <a:xfrm>
            <a:off x="1627475" y="0"/>
            <a:ext cx="5203800" cy="48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Lexend"/>
                <a:ea typeface="Lexend"/>
                <a:cs typeface="Lexend"/>
                <a:sym typeface="Lexend"/>
              </a:rPr>
              <a:t>Insights &amp; Findings (October 2020)</a:t>
            </a:r>
            <a:endParaRPr b="1" sz="24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" name="Google Shape;133;p22"/>
          <p:cNvSpPr txBox="1"/>
          <p:nvPr>
            <p:ph idx="1" type="body"/>
          </p:nvPr>
        </p:nvSpPr>
        <p:spPr>
          <a:xfrm>
            <a:off x="311700" y="700300"/>
            <a:ext cx="8520600" cy="41103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Total of </a:t>
            </a:r>
            <a:r>
              <a:rPr b="1" lang="en">
                <a:latin typeface="Arial"/>
                <a:ea typeface="Arial"/>
                <a:cs typeface="Arial"/>
                <a:sym typeface="Arial"/>
              </a:rPr>
              <a:t>32.94K calls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 were handled in October 2020.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Average call duration was around </a:t>
            </a:r>
            <a:r>
              <a:rPr b="1" lang="en">
                <a:latin typeface="Arial"/>
                <a:ea typeface="Arial"/>
                <a:cs typeface="Arial"/>
                <a:sym typeface="Arial"/>
              </a:rPr>
              <a:t>25 minutes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Billing questions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 were the most common call reason.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Majority of calls came through the </a:t>
            </a:r>
            <a:r>
              <a:rPr b="1" lang="en">
                <a:latin typeface="Arial"/>
                <a:ea typeface="Arial"/>
                <a:cs typeface="Arial"/>
                <a:sym typeface="Arial"/>
              </a:rPr>
              <a:t>Call-Centre channel (32.3%)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, followed by Web and Email.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Negative sentiment calls (11.1K) were higher than positive ones.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highlight>
                  <a:schemeClr val="lt2"/>
                </a:highlight>
                <a:latin typeface="Arial"/>
                <a:ea typeface="Arial"/>
                <a:cs typeface="Arial"/>
                <a:sym typeface="Arial"/>
              </a:rPr>
              <a:t>Among call centres, </a:t>
            </a:r>
            <a:r>
              <a:rPr b="1" lang="en">
                <a:highlight>
                  <a:schemeClr val="lt2"/>
                </a:highlight>
                <a:latin typeface="Arial"/>
                <a:ea typeface="Arial"/>
                <a:cs typeface="Arial"/>
                <a:sym typeface="Arial"/>
              </a:rPr>
              <a:t>Los Angeles</a:t>
            </a:r>
            <a:r>
              <a:rPr lang="en">
                <a:highlight>
                  <a:schemeClr val="lt2"/>
                </a:highlight>
                <a:latin typeface="Arial"/>
                <a:ea typeface="Arial"/>
                <a:cs typeface="Arial"/>
                <a:sym typeface="Arial"/>
              </a:rPr>
              <a:t> handled the most calls (14K), followed by </a:t>
            </a:r>
            <a:r>
              <a:rPr b="1" lang="en">
                <a:highlight>
                  <a:schemeClr val="lt2"/>
                </a:highlight>
                <a:latin typeface="Arial"/>
                <a:ea typeface="Arial"/>
                <a:cs typeface="Arial"/>
                <a:sym typeface="Arial"/>
              </a:rPr>
              <a:t>Baltimore</a:t>
            </a:r>
            <a:r>
              <a:rPr lang="en">
                <a:highlight>
                  <a:schemeClr val="lt2"/>
                </a:highlight>
                <a:latin typeface="Arial"/>
                <a:ea typeface="Arial"/>
                <a:cs typeface="Arial"/>
                <a:sym typeface="Arial"/>
              </a:rPr>
              <a:t> (11K).</a:t>
            </a:r>
            <a:endParaRPr>
              <a:highlight>
                <a:schemeClr val="lt2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Arial"/>
              <a:buChar char="➢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Response Time % stood at </a:t>
            </a:r>
            <a:r>
              <a:rPr b="1" lang="en">
                <a:latin typeface="Arial"/>
                <a:ea typeface="Arial"/>
                <a:cs typeface="Arial"/>
                <a:sym typeface="Arial"/>
              </a:rPr>
              <a:t>75%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, showing scope for improvement.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D9D9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3"/>
          <p:cNvSpPr txBox="1"/>
          <p:nvPr>
            <p:ph type="title"/>
          </p:nvPr>
        </p:nvSpPr>
        <p:spPr>
          <a:xfrm>
            <a:off x="3258600" y="0"/>
            <a:ext cx="2235000" cy="59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Lexend"/>
                <a:ea typeface="Lexend"/>
                <a:cs typeface="Lexend"/>
                <a:sym typeface="Lexend"/>
              </a:rPr>
              <a:t>Conclusion</a:t>
            </a:r>
            <a:endParaRPr b="1" sz="24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23"/>
          <p:cNvSpPr txBox="1"/>
          <p:nvPr>
            <p:ph idx="1" type="body"/>
          </p:nvPr>
        </p:nvSpPr>
        <p:spPr>
          <a:xfrm>
            <a:off x="311700" y="599100"/>
            <a:ext cx="8520600" cy="39801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The Call Centre Dashboard provides an interactive and visual way to monitor call centre performance for </a:t>
            </a:r>
            <a:r>
              <a:rPr b="1" lang="en" sz="1400">
                <a:latin typeface="Arial"/>
                <a:ea typeface="Arial"/>
                <a:cs typeface="Arial"/>
                <a:sym typeface="Arial"/>
              </a:rPr>
              <a:t>October 2020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Key Benefits: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Clear tracking of call volumes, call duration, and response time.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Insights into customer satisfaction and sentiment.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Visibility into channel-wise and location-wise performance.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Data-driven support for improving call centre operations.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Future Scope: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highlight>
                  <a:schemeClr val="lt2"/>
                </a:highlight>
                <a:latin typeface="Arial"/>
                <a:ea typeface="Arial"/>
                <a:cs typeface="Arial"/>
                <a:sym typeface="Arial"/>
              </a:rPr>
              <a:t>Predictive analysis for call volume forecasting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highlight>
                  <a:schemeClr val="lt2"/>
                </a:highlight>
                <a:latin typeface="Arial"/>
                <a:ea typeface="Arial"/>
                <a:cs typeface="Arial"/>
                <a:sym typeface="Arial"/>
              </a:rPr>
              <a:t>Deeper sentiment analysis using text mining</a:t>
            </a:r>
            <a:r>
              <a:rPr b="1" lang="en" sz="1400">
                <a:highlight>
                  <a:schemeClr val="lt2"/>
                </a:highlight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" sz="1400">
                <a:highlight>
                  <a:schemeClr val="lt2"/>
                </a:highlight>
                <a:latin typeface="Arial"/>
                <a:ea typeface="Arial"/>
                <a:cs typeface="Arial"/>
                <a:sym typeface="Arial"/>
              </a:rPr>
              <a:t>AI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40" name="Google Shape;140;p23"/>
          <p:cNvSpPr txBox="1"/>
          <p:nvPr/>
        </p:nvSpPr>
        <p:spPr>
          <a:xfrm>
            <a:off x="575700" y="3897325"/>
            <a:ext cx="7992600" cy="599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“The inclusion of navigation buttons enhances interactivity, ensuring that stakeholders can easily move across different report pages and focus on specific analyses.”</a:t>
            </a:r>
            <a:endParaRPr b="1"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